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88522fc1424e7d" /><Relationship Type="http://schemas.openxmlformats.org/officeDocument/2006/relationships/extended-properties" Target="/docProps/app.xml" Id="R1053e4d1caf346bb" /><Relationship Type="http://schemas.openxmlformats.org/officeDocument/2006/relationships/officeDocument" Target="/ppt/presentation.xml" Id="R0e367454e6b6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0d86dbc334e72"/>
  </p:sldMasterIdLst>
  <p:notesMasterIdLst>
    <p:notesMasterId xmlns:r="http://schemas.openxmlformats.org/officeDocument/2006/relationships" r:id="R3cae3fe661b24a06"/>
  </p:notesMasterIdLst>
  <p:sldIdLst>
    <p:sldId xmlns:r="http://schemas.openxmlformats.org/officeDocument/2006/relationships" id="256" r:id="R65ce780762af43e1"/>
    <p:sldId xmlns:r="http://schemas.openxmlformats.org/officeDocument/2006/relationships" id="257" r:id="Red6ec091b46b4702"/>
    <p:sldId xmlns:r="http://schemas.openxmlformats.org/officeDocument/2006/relationships" id="258" r:id="R767ce9c7f2fd4f25"/>
    <p:sldId xmlns:r="http://schemas.openxmlformats.org/officeDocument/2006/relationships" id="259" r:id="R674600c482c343ac"/>
    <p:sldId xmlns:r="http://schemas.openxmlformats.org/officeDocument/2006/relationships" id="260" r:id="Rc6e74c217c9a479c"/>
    <p:sldId xmlns:r="http://schemas.openxmlformats.org/officeDocument/2006/relationships" id="261" r:id="Re296adb648a44a3d"/>
    <p:sldId xmlns:r="http://schemas.openxmlformats.org/officeDocument/2006/relationships" id="262" r:id="R46fe10a2fbe0493f"/>
    <p:sldId xmlns:r="http://schemas.openxmlformats.org/officeDocument/2006/relationships" id="263" r:id="Re8d181880d9145a1"/>
    <p:sldId xmlns:r="http://schemas.openxmlformats.org/officeDocument/2006/relationships" id="264" r:id="R54f18a6b341c4a20"/>
    <p:sldId xmlns:r="http://schemas.openxmlformats.org/officeDocument/2006/relationships" id="265" r:id="R44d572de911349e1"/>
    <p:sldId xmlns:r="http://schemas.openxmlformats.org/officeDocument/2006/relationships" id="266" r:id="R05127c2a38e74626"/>
    <p:sldId xmlns:r="http://schemas.openxmlformats.org/officeDocument/2006/relationships" id="267" r:id="R696e6fe978904eb5"/>
    <p:sldId xmlns:r="http://schemas.openxmlformats.org/officeDocument/2006/relationships" id="268" r:id="R50bcdbd0d2a840f9"/>
    <p:sldId xmlns:r="http://schemas.openxmlformats.org/officeDocument/2006/relationships" id="269" r:id="Rf93c114cf77642f9"/>
    <p:sldId xmlns:r="http://schemas.openxmlformats.org/officeDocument/2006/relationships" id="270" r:id="Rd9bc7443a8ee46d9"/>
    <p:sldId xmlns:r="http://schemas.openxmlformats.org/officeDocument/2006/relationships" id="271" r:id="R2fff6784e8df48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b510a07be4154" /><Relationship Type="http://schemas.openxmlformats.org/officeDocument/2006/relationships/slideMaster" Target="/ppt/slideMasters/slideMaster1.xml" Id="R7f70d86dbc334e72" /><Relationship Type="http://schemas.openxmlformats.org/officeDocument/2006/relationships/notesMaster" Target="/ppt/notesMasters/notesMaster1.xml" Id="R3cae3fe661b24a06" /><Relationship Type="http://schemas.openxmlformats.org/officeDocument/2006/relationships/presProps" Target="/ppt/presProps.xml" Id="Rc01d9a7977b14f4a" /><Relationship Type="http://schemas.openxmlformats.org/officeDocument/2006/relationships/tableStyles" Target="/ppt/tableStyles.xml" Id="R6eb592f2dd9842a1" /><Relationship Type="http://schemas.openxmlformats.org/officeDocument/2006/relationships/slide" Target="/ppt/slides/slide1.xml" Id="R65ce780762af43e1" /><Relationship Type="http://schemas.openxmlformats.org/officeDocument/2006/relationships/slide" Target="/ppt/slides/slide2.xml" Id="Red6ec091b46b4702" /><Relationship Type="http://schemas.openxmlformats.org/officeDocument/2006/relationships/slide" Target="/ppt/slides/slide3.xml" Id="R767ce9c7f2fd4f25" /><Relationship Type="http://schemas.openxmlformats.org/officeDocument/2006/relationships/slide" Target="/ppt/slides/slide4.xml" Id="R674600c482c343ac" /><Relationship Type="http://schemas.openxmlformats.org/officeDocument/2006/relationships/slide" Target="/ppt/slides/slide5.xml" Id="Rc6e74c217c9a479c" /><Relationship Type="http://schemas.openxmlformats.org/officeDocument/2006/relationships/slide" Target="/ppt/slides/slide6.xml" Id="Re296adb648a44a3d" /><Relationship Type="http://schemas.openxmlformats.org/officeDocument/2006/relationships/slide" Target="/ppt/slides/slide7.xml" Id="R46fe10a2fbe0493f" /><Relationship Type="http://schemas.openxmlformats.org/officeDocument/2006/relationships/slide" Target="/ppt/slides/slide8.xml" Id="Re8d181880d9145a1" /><Relationship Type="http://schemas.openxmlformats.org/officeDocument/2006/relationships/slide" Target="/ppt/slides/slide9.xml" Id="R54f18a6b341c4a20" /><Relationship Type="http://schemas.openxmlformats.org/officeDocument/2006/relationships/slide" Target="/ppt/slides/slide10.xml" Id="R44d572de911349e1" /><Relationship Type="http://schemas.openxmlformats.org/officeDocument/2006/relationships/slide" Target="/ppt/slides/slide11.xml" Id="R05127c2a38e74626" /><Relationship Type="http://schemas.openxmlformats.org/officeDocument/2006/relationships/slide" Target="/ppt/slides/slide12.xml" Id="R696e6fe978904eb5" /><Relationship Type="http://schemas.openxmlformats.org/officeDocument/2006/relationships/slide" Target="/ppt/slides/slide13.xml" Id="R50bcdbd0d2a840f9" /><Relationship Type="http://schemas.openxmlformats.org/officeDocument/2006/relationships/slide" Target="/ppt/slides/slide14.xml" Id="Rf93c114cf77642f9" /><Relationship Type="http://schemas.openxmlformats.org/officeDocument/2006/relationships/slide" Target="/ppt/slides/slide15.xml" Id="Rd9bc7443a8ee46d9" /><Relationship Type="http://schemas.openxmlformats.org/officeDocument/2006/relationships/slide" Target="/ppt/slides/slide16.xml" Id="R2fff6784e8df48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11df5f48c04d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c44c0b5e24fae" /><Relationship Type="http://schemas.openxmlformats.org/officeDocument/2006/relationships/notesMaster" Target="/ppt/notesMasters/notesMaster1.xml" Id="Ra39fabf0dcb5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638f7fa5274b9c" /><Relationship Type="http://schemas.openxmlformats.org/officeDocument/2006/relationships/notesMaster" Target="/ppt/notesMasters/notesMaster1.xml" Id="R2c9746a6704049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2a33330484ddf" /><Relationship Type="http://schemas.openxmlformats.org/officeDocument/2006/relationships/notesMaster" Target="/ppt/notesMasters/notesMaster1.xml" Id="Recf707c331fa4b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916220db6d4da8" /><Relationship Type="http://schemas.openxmlformats.org/officeDocument/2006/relationships/notesMaster" Target="/ppt/notesMasters/notesMaster1.xml" Id="Rc55146d01ed541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327567a7f24529" /><Relationship Type="http://schemas.openxmlformats.org/officeDocument/2006/relationships/notesMaster" Target="/ppt/notesMasters/notesMaster1.xml" Id="Rbcf49fce3455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4b80cdd849493b" /><Relationship Type="http://schemas.openxmlformats.org/officeDocument/2006/relationships/notesMaster" Target="/ppt/notesMasters/notesMaster1.xml" Id="R3f5ac71ccb824a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915b9b70e042fa" /><Relationship Type="http://schemas.openxmlformats.org/officeDocument/2006/relationships/notesMaster" Target="/ppt/notesMasters/notesMaster1.xml" Id="R647cf24971bd44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3fa7296cd4bc2" /><Relationship Type="http://schemas.openxmlformats.org/officeDocument/2006/relationships/notesMaster" Target="/ppt/notesMasters/notesMaster1.xml" Id="Ra865bc1fdba346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ec11f10aab465e" /><Relationship Type="http://schemas.openxmlformats.org/officeDocument/2006/relationships/notesMaster" Target="/ppt/notesMasters/notesMaster1.xml" Id="Re01a6b7e90ae47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ce5401efee4a21" /><Relationship Type="http://schemas.openxmlformats.org/officeDocument/2006/relationships/notesMaster" Target="/ppt/notesMasters/notesMaster1.xml" Id="Rf188ff877db142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548209fd004192" /><Relationship Type="http://schemas.openxmlformats.org/officeDocument/2006/relationships/notesMaster" Target="/ppt/notesMasters/notesMaster1.xml" Id="Rcab767b677774e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d2bdfca6a94981" /><Relationship Type="http://schemas.openxmlformats.org/officeDocument/2006/relationships/notesMaster" Target="/ppt/notesMasters/notesMaster1.xml" Id="R4e4cde7e857645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7cc0b2a6b74733" /><Relationship Type="http://schemas.openxmlformats.org/officeDocument/2006/relationships/notesMaster" Target="/ppt/notesMasters/notesMaster1.xml" Id="R27f7c86008ba41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40542a4097469e" /><Relationship Type="http://schemas.openxmlformats.org/officeDocument/2006/relationships/notesMaster" Target="/ppt/notesMasters/notesMaster1.xml" Id="R5ca0324510564a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cc9ec8c4304f2e" /><Relationship Type="http://schemas.openxmlformats.org/officeDocument/2006/relationships/notesMaster" Target="/ppt/notesMasters/notesMaster1.xml" Id="R11ec4c063d5d45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c2cdc9ea6e4d55" /><Relationship Type="http://schemas.openxmlformats.org/officeDocument/2006/relationships/notesMaster" Target="/ppt/notesMasters/notesMaster1.xml" Id="Rde5c8f69dd0244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开场：本次汇报介绍信息流Primitive、当前代码和下一步工作。</a:t>
            </a:r>
          </a:p>
          <a:p xmlns:a="http://schemas.openxmlformats.org/drawingml/2006/main">
            <a:r>
              <a:t>来源：docs/基于文献的Primitive重构论证.md；docs/PROJECT_STRUCTURE_ZH.md。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用三句话介绍汇报结构。代码部分只做导航，随后切换VS Code。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第一阶段分析交互轨迹并生成信息流图。第二阶段利用信息流辅助攻击。当前主要完成信息流表示与分析。</a:t>
            </a:r>
          </a:p>
          <a:p xmlns:a="http://schemas.openxmlformats.org/drawingml/2006/main">
            <a:r>
              <a:t>来源：docs/论文阅读后关于idea的思考.md。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原有九项词表保留了有用的攻击叙述，但混合了来源、用途、资源和复合流程。</a:t>
            </a:r>
          </a:p>
          <a:p xmlns:a="http://schemas.openxmlformats.org/drawingml/2006/main">
            <a:r>
              <a:t>来源：docs/基于文献的Primitive重构论证.md，第2节。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三类Primitive分别处理信息交付、信息产生和资源状态生效。它们还需要对象、依赖、版本和证据。</a:t>
            </a:r>
          </a:p>
          <a:p xmlns:a="http://schemas.openxmlformats.org/drawingml/2006/main">
            <a:r>
              <a:t>来源：docs/基于文献的Primitive重构论证.md，第1、5节。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TRANSFER表示已有对象进入新的执行域。成功交付不代表接收者理解、相信或服从。</a:t>
            </a:r>
          </a:p>
          <a:p xmlns:a="http://schemas.openxmlformats.org/drawingml/2006/main">
            <a:r>
              <a:t>来源：docs/基于文献的Primitive重构论证.md，第5.1节。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DERIVE表示局部处理产生新对象。没有中间证据时，一次模型调用可以保留为一个多输入、多输出效果。</a:t>
            </a:r>
          </a:p>
          <a:p xmlns:a="http://schemas.openxmlformats.org/drawingml/2006/main">
            <a:r>
              <a:t>来源：docs/基于文献的Primitive重构论证.md，第5.2、9.4节。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UPDATE表示有独立身份的资源状态已经生效变化。写入请求和工具成功声明都不能替代提交证据。</a:t>
            </a:r>
          </a:p>
          <a:p xmlns:a="http://schemas.openxmlformats.org/drawingml/2006/main">
            <a:r>
              <a:t>来源：docs/基于文献的Primitive重构论证.md，第5.3节。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Primitive描述发生的效果，依赖关系解释效果之间的联系。旧CONTROL中的控制影响由control_dep保留。</a:t>
            </a:r>
          </a:p>
          <a:p xmlns:a="http://schemas.openxmlformats.org/drawingml/2006/main">
            <a:r>
              <a:t>来源：docs/基于文献的Primitive重构论证.md，第6节。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跨会话传播由UPDATE、版本读取和后续DERIVE组成。需要实际会话身份、持久范围、版本和后续使用证据。</a:t>
            </a:r>
          </a:p>
          <a:p xmlns:a="http://schemas.openxmlformats.org/drawingml/2006/main">
            <a:r>
              <a:t>来源：docs/基于文献的Primitive重构论证.md，第8.3节；docs/PROJECT_STRUCTURE_ZH.md，第2、7节。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结论限定在固定观察范围和对象粒度内。三类接口不可简单互相替代，但不构成普适最小性定理。</a:t>
            </a:r>
          </a:p>
          <a:p xmlns:a="http://schemas.openxmlformats.org/drawingml/2006/main">
            <a:r>
              <a:t>来源：docs/基于文献的Primitive重构论证.md，第9、12、13节。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本页只做VS Code导航。重点展示v3数据模型、投影、验证和离线分析入口。</a:t>
            </a:r>
          </a:p>
          <a:p xmlns:a="http://schemas.openxmlformats.org/drawingml/2006/main">
            <a:r>
              <a:t>来源：docs/PROJECT_STRUCTURE_ZH.md。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轨迹先进入统一规范化表示，再投影成Effect Graph。Verifier独立裁决依赖，Slice保留与目标相关的结构。</a:t>
            </a:r>
          </a:p>
          <a:p xmlns:a="http://schemas.openxmlformats.org/drawingml/2006/main">
            <a:r>
              <a:t>来源：docs/PROJECT_STRUCTURE_ZH.md，第6至8节。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这一页只区分当前实现和后续工作，不把离线工程验证描述成真实实验结果。</a:t>
            </a:r>
          </a:p>
          <a:p xmlns:a="http://schemas.openxmlformats.org/drawingml/2006/main">
            <a:r>
              <a:t>来源：docs/PROJECT_STRUCTURE_ZH.md，第18节；docs/IMPLEMENTATION_PROGRESS.md顶部。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信息流表示本身已经较清晰。更大的开放问题是图如何参与攻击，以及如何验证攻击提升来自图结构。</a:t>
            </a:r>
          </a:p>
          <a:p xmlns:a="http://schemas.openxmlformats.org/drawingml/2006/main">
            <a:r>
              <a:t>来源：docs/论文阅读后关于idea的思考.md。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Survey启发只作为可能方向。当前阅读笔记没有提出具体利用机制，因此不在这里扩展攻击规划框架。</a:t>
            </a:r>
          </a:p>
          <a:p xmlns:a="http://schemas.openxmlformats.org/drawingml/2006/main">
            <a:r>
              <a:t>来源：docs/论文阅读后关于idea的思考.md；The Attack and Defense Landscape of Agentic AI: A Comprehensive Survey。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95a23b1254d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081d2858084563" /><Relationship Type="http://schemas.openxmlformats.org/officeDocument/2006/relationships/slideLayout" Target="/ppt/slideLayouts/slideLayout1.xml" Id="R0e0a0c321ebe4a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0a0c321ebe4a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f625886a24f20" /><Relationship Type="http://schemas.openxmlformats.org/officeDocument/2006/relationships/image" Target="/ppt/media/image.png" Id="R35b847be3f4f4255" /><Relationship Type="http://schemas.openxmlformats.org/officeDocument/2006/relationships/notesSlide" Target="/ppt/notesSlides/notesSlide1.xml" Id="R6a383a4f2da54c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93fce45d84c3c" /><Relationship Type="http://schemas.openxmlformats.org/officeDocument/2006/relationships/notesSlide" Target="/ppt/notesSlides/notesSlide2.xml" Id="Rece7f28babf040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fbdb7e7db47fb" /><Relationship Type="http://schemas.openxmlformats.org/officeDocument/2006/relationships/notesSlide" Target="/ppt/notesSlides/notesSlide3.xml" Id="R39e9ffeb544244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f35caf3da497a" /><Relationship Type="http://schemas.openxmlformats.org/officeDocument/2006/relationships/notesSlide" Target="/ppt/notesSlides/notesSlide4.xml" Id="R63170ef31d624f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91c76710b482a" /><Relationship Type="http://schemas.openxmlformats.org/officeDocument/2006/relationships/notesSlide" Target="/ppt/notesSlides/notesSlide5.xml" Id="R6e68421b289043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8f88a34a34010" /><Relationship Type="http://schemas.openxmlformats.org/officeDocument/2006/relationships/notesSlide" Target="/ppt/notesSlides/notesSlide6.xml" Id="Ra40f2baa494747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51582492a4b15" /><Relationship Type="http://schemas.openxmlformats.org/officeDocument/2006/relationships/notesSlide" Target="/ppt/notesSlides/notesSlide7.xml" Id="R168bf96003d541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79f61148749b3" /><Relationship Type="http://schemas.openxmlformats.org/officeDocument/2006/relationships/notesSlide" Target="/ppt/notesSlides/notesSlide8.xml" Id="R9f2b7440b2254b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e7430e0b74ee4" /><Relationship Type="http://schemas.openxmlformats.org/officeDocument/2006/relationships/notesSlide" Target="/ppt/notesSlides/notesSlide9.xml" Id="R8866b1b320fd43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0f0497db94d66" /><Relationship Type="http://schemas.openxmlformats.org/officeDocument/2006/relationships/notesSlide" Target="/ppt/notesSlides/notesSlide10.xml" Id="R2f60d5920d384e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19f6a0d904b70" /><Relationship Type="http://schemas.openxmlformats.org/officeDocument/2006/relationships/notesSlide" Target="/ppt/notesSlides/notesSlide11.xml" Id="R86a483c52c934e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47c21f65542fa" /><Relationship Type="http://schemas.openxmlformats.org/officeDocument/2006/relationships/notesSlide" Target="/ppt/notesSlides/notesSlide12.xml" Id="Rf99e974b123340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cc5a2c00945a4" /><Relationship Type="http://schemas.openxmlformats.org/officeDocument/2006/relationships/notesSlide" Target="/ppt/notesSlides/notesSlide13.xml" Id="Rc2c7443a8a5a4d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2237f9bc24764" /><Relationship Type="http://schemas.openxmlformats.org/officeDocument/2006/relationships/notesSlide" Target="/ppt/notesSlides/notesSlide14.xml" Id="R59df105c29da45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1ade7885a4bd6" /><Relationship Type="http://schemas.openxmlformats.org/officeDocument/2006/relationships/notesSlide" Target="/ppt/notesSlides/notesSlide15.xml" Id="R4ababc1db0974a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5403246124dbb" /><Relationship Type="http://schemas.openxmlformats.org/officeDocument/2006/relationships/notesSlide" Target="/ppt/notesSlides/notesSlide16.xml" Id="Rc789450fca0a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F247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FC6CC-B3C2-4BE1-A708-ABA711D8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0"/>
            <a:ext cx="352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06D62-BA24-4F22-A33A-26CC9E00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A4EA6-5AE6-4C0D-A5A9-3E9F17D5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Agent信息流分析与组合攻击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03B4E-9B9E-49DD-B1A6-6A60745E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E9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7E9BB"/>
                </a:solidFill>
                <a:latin typeface="Noto Sans CJK SC"/>
                <a:ea typeface="Noto Sans CJK SC"/>
                <a:cs typeface="Noto Sans CJK SC"/>
              </a:rPr>
              <a:t>Primitive设计、代码实现与工作进展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891DD-707B-4AE1-BB07-75E6AC8E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DFF83-5863-4884-B8C7-FE1A6E5F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The Chinese University of Hong Kong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11A96-0876-422D-B532-2315D8B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9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7E9BB"/>
                </a:solidFill>
                <a:latin typeface="Noto Sans CJK SC"/>
                <a:ea typeface="Noto Sans CJK SC"/>
                <a:cs typeface="Noto Sans CJK SC"/>
              </a:rPr>
              <a:t>2026年9月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847be3f4f4255"/>
          <a:stretch xmlns:a="http://schemas.openxmlformats.org/drawingml/2006/main"/>
        </p:blipFill>
        <p:spPr>
          <a:xfrm xmlns:a="http://schemas.openxmlformats.org/drawingml/2006/main">
            <a:off x="9429750" y="618195"/>
            <a:ext cx="2000250" cy="158301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9D6E3-15EE-452A-B84D-8A21E18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388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The Chinese University</a:t>
            </a:r>
          </a:p>
          <a:p xmlns:a="http://schemas.openxmlformats.org/drawingml/2006/main">
            <a:pPr algn="ctr">
              <a:defRPr sz="1200" b="0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of Hong Kong</a:t>
            </a:r>
          </a:p>
        </p:txBody>
      </p:sp>
    </p:spTree>
    <p:extLst>
      <p:ext uri="{BB962C8B-B14F-4D97-AF65-F5344CB8AC3E}">
        <p14:creationId xmlns:p14="http://schemas.microsoft.com/office/powerpoint/2010/main" val="863880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4055D-6D89-4288-AD0B-EF6AB3D7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CF7B4-9633-4D28-8B3B-500515AA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6479E-025B-468A-91AE-E451940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FC9E4-524E-4239-8AE2-CDD20905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AFE04-6CAF-4567-99B6-6636965F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383FC-0763-4075-A2B1-E9CF3D6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1C345-0F22-4DF7-BE09-07BC767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B86E1-E2F5-43AE-97BE-CF874F05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E0F11-9D45-402F-A6AD-48DB3C48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62880-926D-4507-8D67-0784356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32625-F544-40A9-81AB-996DCFF0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828DA-7890-45F0-9F00-34BE105E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9B292-A028-4B46-9D80-BF8949E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Primitive表示信息流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4BFD9-733F-4E33-89BC-3340C821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三个底层操作与依赖关系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A50B4-2DA8-42CB-883C-E2B0C47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056E2-A2AD-4DC9-97AE-A2826FBF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17659-5066-4172-A415-0653D7A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00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当前代码展示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F7FC8-2DB1-41E8-8102-C5B6B5D4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90725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核心目录与分析流程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62CAD-D679-4A25-9736-346CCF82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42ECE-19C4-4A3E-8F59-A8341791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F603F-F0E0-4D6C-AE98-1CBD2BD9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0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未来工作和论文启发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E0FBB-5D20-4928-B41C-7D6AAA23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90725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当前困难与后续方向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FD31F-D2D1-479C-82E5-469DC31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Primitive  ·  Code  ·  Future Work</a:t>
            </a:r>
          </a:p>
        </p:txBody>
      </p:sp>
    </p:spTree>
    <p:extLst>
      <p:ext uri="{BB962C8B-B14F-4D97-AF65-F5344CB8AC3E}">
        <p14:creationId xmlns:p14="http://schemas.microsoft.com/office/powerpoint/2010/main" val="521703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5FFE3-3FED-4CC3-A18C-67DF556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C7648-9092-4AD8-8A62-C4BF3FA8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B1CE5-A6F0-49A8-8B12-769C797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75CDA-AC1C-4D0D-AF5E-5E334E75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8201A-CB0E-4AF9-8F3C-B7F832A8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6C998-729D-4B1B-BB8F-F725486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研究思路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A7C1F-9932-45BE-817F-C50658B7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D42CF-6D80-4BC9-81ED-F88D30D5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72CE0-4B02-41F1-8B6D-EA1A444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8B060-3DE7-4483-8F45-C9212FDC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3/16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C7F2D-09B0-49DF-B45F-11E7A368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76450"/>
            <a:ext cx="1809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E5D0D-04EA-4D29-8A21-C9103E53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SafeClawArena</a:t>
            </a:r>
          </a:p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交互轨迹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529C4-42D3-4DF2-9005-6DADE693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1809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4BF46-FEBC-4E7D-B474-4F2ED61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信息流分析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172D7-ADFA-4DCD-A08E-F7F8E1F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76450"/>
            <a:ext cx="1809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DD609-9D8E-4297-B110-BBD4234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526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信息流图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BA7F8-FA17-427E-A0A7-C832FF72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809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4071B-16CA-45FD-900C-8A23B61F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攻击规划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EFB88-9957-4033-8F22-537632B6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76450"/>
            <a:ext cx="1809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4A527-506E-42BA-A167-23F834C6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526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正式攻击</a:t>
            </a:r>
          </a:p>
        </p:txBody>
      </p: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238375" y="24955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572000" y="24955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905625" y="24955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39250" y="24955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5F14E-01DB-4A38-8571-7D26AF8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19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当前重点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8ACD4-B54A-4BC0-BBC5-9BCB11B3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24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9F6F8-CC2F-4EB9-80C0-6A1537E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信息流表示与分析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F5A18-2E2D-4B0C-A2BA-A0035A01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06A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706A73"/>
                </a:solidFill>
                <a:latin typeface="Noto Sans CJK SC"/>
                <a:ea typeface="Noto Sans CJK SC"/>
                <a:cs typeface="Noto Sans CJK SC"/>
              </a:rPr>
              <a:t>待进一步明确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E0409-4D44-4AD3-BBAB-77C47979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672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图如何帮助攻击</a:t>
            </a:r>
          </a:p>
        </p:txBody>
      </p:sp>
    </p:spTree>
    <p:extLst>
      <p:ext uri="{BB962C8B-B14F-4D97-AF65-F5344CB8AC3E}">
        <p14:creationId xmlns:p14="http://schemas.microsoft.com/office/powerpoint/2010/main" val="327935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5B6A20-7DA2-418E-A79C-99564E5F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3175D-861D-4974-AEFA-AC034DFA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037A7-C362-46C2-A206-D95B09D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D85B7-C3A0-43DA-B5B8-FE834E54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6E613-8119-494B-B87D-C3C61D15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24739-8822-426C-9CB5-CAAE5B2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原有Primitive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2DA07-3897-4526-9EEA-DE16AB9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98E4B-8676-4287-B447-93DFB026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BBC80-0F0C-4F22-B86F-15A42CC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14205-FD43-4F5A-B103-6888EBFE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4/16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0471C-4639-41A4-B711-50BD7269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E48CC-63FD-4EE0-8C20-4B0CE17D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Ingest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ECBCB-89EA-4786-A445-EFABD90A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3350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DEFD0-ADDD-4429-A558-4FE1637D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Adopt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8B8DA-97B4-48A5-9FCF-922E581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3350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4252B-9404-4424-BFFA-5F515CC6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811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Persist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97A76-1427-40B5-A3A5-C21D2C05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3D84F-2518-441C-A8E2-9DFB45C5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651B5-B6D9-44D3-AAD2-9C0ECCD3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7F9B4-FEB6-47AC-8635-81985BB9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Select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0B904-52E8-4557-8886-67E0FD69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2B2DBA-B694-4A69-9CF1-C57D219D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Bind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EA1C4-C488-4F19-A352-E56F13DB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7F462-9749-4C83-831F-39424FF5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C90F0-EFBF-444F-9AAA-8062760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842954-4487-465E-A5A6-1835EECB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95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C27E8-974C-4724-B375-77423DB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190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9525">
            <a:solidFill>
              <a:srgbClr val="C9B4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F0523-7506-4985-849C-31D66508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9F8AA-2A4B-4820-A1EC-A34BD1A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1445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31B253-E971-4F2D-82E3-E4FDBCF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144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809FF-C439-4AC7-9EE1-B4F06A74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38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分类标准不同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FC2B3-CEF1-4B54-95D0-33FA412E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来源、用途和资源类型混在一起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249188-49AF-47D3-A6DD-10175977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1D48AE-3029-4015-A51A-F2928B5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4671FD-C385-452C-8248-9CDE5F6B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765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抽象粒度不同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86657D-2D0E-4909-A512-27D473A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单个操作和复合流程混在一起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C79DED-2F6E-4648-8627-D75ED18E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946579-44FA-4781-8876-561A35AB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342C92-11BB-4CFE-9A53-94F3507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147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观察能力不同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115021-EA66-495F-9A81-78DF1A38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部分语义无法从日志直接读取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F9B1FF-F82F-4988-AC31-B7E2846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底层表示需要统一的操作接口</a:t>
            </a:r>
          </a:p>
        </p:txBody>
      </p:sp>
    </p:spTree>
    <p:extLst>
      <p:ext uri="{BB962C8B-B14F-4D97-AF65-F5344CB8AC3E}">
        <p14:creationId xmlns:p14="http://schemas.microsoft.com/office/powerpoint/2010/main" val="1155011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6E3C3-FEA8-4886-86E1-35172A7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5D92A-19F9-40A7-A033-8897825B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4D5B7-0AA6-4D64-9BEA-9B4001C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6B284-3B11-4857-B719-D07F7E49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B3C99-8ED9-4FD9-AE82-1813DA0A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D8CB5-2A22-470E-9594-2478F686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三个Primitive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F14E-56D0-4E6E-A6DE-DABC4103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2DB05-E52E-46A2-A03D-070FF014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031FE-2E11-4AC5-AA3C-03DF575B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B6B19-32D6-4423-BFD7-7CCF010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5/16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D573E-0F65-4F3A-AD32-E66F070A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3238500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E72F8-2026-4BB9-9AA3-F84BF905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D174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D174F"/>
                </a:solidFill>
                <a:latin typeface="DejaVu Sans"/>
                <a:ea typeface="DejaVu Sans"/>
                <a:cs typeface="DejaVu Sans"/>
              </a:rPr>
              <a:t>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F7C36-572B-4B4D-8482-5E8644B3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交付已有对象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98AAD-8A3B-458E-9EC1-2757DBB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B4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435B7-3337-40CD-AD3D-B3F77C6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消息传递</a:t>
            </a:r>
          </a:p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工具返回</a:t>
            </a:r>
          </a:p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memory读取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6C1CD-99CA-48C9-B247-C94235C3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238500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483CA-697C-4E01-8145-BC2E8DE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1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D174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D174F"/>
                </a:solidFill>
                <a:latin typeface="DejaVu Sans"/>
                <a:ea typeface="DejaVu Sans"/>
                <a:cs typeface="DejaVu Sans"/>
              </a:rPr>
              <a:t>DERIVE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82914-8580-4BBE-9832-27BCEA40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根据输入产生输出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94031-E54B-4CEE-836E-9FB45516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B4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34013-F36E-4A47-BE65-61527CA9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摘要</a:t>
            </a:r>
          </a:p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计划</a:t>
            </a:r>
          </a:p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参数绑定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DE3C1-F1C7-43B2-9D23-20A015AF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238500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E9BB"/>
          </a:solidFill>
          <a:ln xmlns:a="http://schemas.openxmlformats.org/drawingml/2006/main" w="19050">
            <a:solidFill>
              <a:srgbClr val="E5AE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6A0EC-A157-4451-B083-E53A6B92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D174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D174F"/>
                </a:solidFill>
                <a:latin typeface="DejaVu Sans"/>
                <a:ea typeface="DejaVu Sans"/>
                <a:cs typeface="DejaVu Sans"/>
              </a:rPr>
              <a:t>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5EB2F-E6B2-4505-93FD-AF5D091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改变资源状态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72451-1763-43B8-ABF0-45DDF59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B4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D8B61-669B-4066-8F17-DB27A5E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memory写入</a:t>
            </a:r>
          </a:p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文件修改</a:t>
            </a:r>
          </a:p>
          <a:p xmlns:a="http://schemas.openxmlformats.org/drawingml/2006/main">
            <a:pPr algn="ctr">
              <a:def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权限变化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2DA71-2B2F-457B-9F25-D6014FE8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信息交付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7CE4B-B69F-4C44-8D16-349E5CAE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48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信息产生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F4185A-83E4-432A-A9F3-3746E852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48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状态生效</a:t>
            </a:r>
          </a:p>
        </p:txBody>
      </p:sp>
    </p:spTree>
    <p:extLst>
      <p:ext uri="{BB962C8B-B14F-4D97-AF65-F5344CB8AC3E}">
        <p14:creationId xmlns:p14="http://schemas.microsoft.com/office/powerpoint/2010/main" val="1038519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4E490-3498-486E-BCF3-C764392E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222EE-416D-4942-BE6C-CCC13882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935AB-DF32-4F85-982B-3081B1B2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61539-0AE3-4274-9E6C-B066A7B7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938AB-02FE-4407-8540-1598D28D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A2C6E-16C8-4C7D-9426-BDCC6D94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TRANSFER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3A864-B8EA-4ACF-BE4D-611284D9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1738D-6FB7-4E6F-80A7-A27D8ED3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2C55F-275A-46D8-A9F3-D68F925D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007B2-EBFE-42B4-ACD3-48D1ED8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6/16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2BB25-4484-4952-ABE0-BF740484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419100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9525">
            <a:solidFill>
              <a:srgbClr val="CDBD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1C197-199E-437A-8EA9-1C358451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428750"/>
            <a:ext cx="38481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TRANSFER(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source,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destination,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artifact,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channel,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delivery_id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60EC3-3EB1-4053-ABC5-81FADDDA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95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14958-1DDF-48D8-BC4F-968EEF35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811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对象已经存在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FF6B3-1694-43F7-9A71-4AEECA47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B7675-C4E9-48B5-95C3-361D54BD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288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进入新的执行域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186FB-0481-4193-8EAD-08995DB9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90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1D8A9-2D8F-44E8-84A4-BF6A61A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765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对象身份保持不变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0AC93-0BD4-4ACF-AA5D-259DEBEE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38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B6675-17BB-4CAE-A1BC-DC5D1EC5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242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记录来源与交付通道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9F28F-46EC-4302-9015-4E47228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86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85697-FB0E-4E55-827D-04E1F709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719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交付不等于理解或采纳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FD9F5-CCBC-41E2-B7BA-B00F13BA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67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用户消息 → Agent上下文    工具结果 → Agent上下文</a:t>
            </a:r>
          </a:p>
        </p:txBody>
      </p:sp>
    </p:spTree>
    <p:extLst>
      <p:ext uri="{BB962C8B-B14F-4D97-AF65-F5344CB8AC3E}">
        <p14:creationId xmlns:p14="http://schemas.microsoft.com/office/powerpoint/2010/main" val="9673235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BC8E6-CF56-4873-BF5F-8F90ECB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B4A84-B209-4ABC-BB3E-AEC444BA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44E00-DC0F-4DCB-81BC-FE9A14ED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24084-F108-4933-9564-731338BE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99F70-22D9-4037-991A-CF3E4925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E3F73-704C-41D8-A6FC-7D19264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10A4D-2E09-43E8-80C9-FB460A83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10F1C-5BFE-42B9-B11C-79B93D56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85104-59B3-4BB2-A0DA-ED0151A8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F6D94-CFDA-4999-9626-2DA48C6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7/16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6BCF-2753-4908-9C90-595628C1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419100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9525">
            <a:solidFill>
              <a:srgbClr val="CDBD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40A02-F3B9-41E9-B335-431BB32B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428750"/>
            <a:ext cx="38481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DERIVE(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executor,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inputs,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outputs,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operation,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invocation_id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A4D83-BB0B-49FF-9D94-DE0161B1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95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A5559-2749-498D-A2DE-A7A34852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811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根据输入产生新对象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278E5-1F72-4199-B4EF-A3F5475C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72104-8313-4875-A592-5580F398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288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支持多个输入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7D399-49D3-4F62-ACED-7EF048F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90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0538E-6BCD-4D98-9488-294C5C4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765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支持多个输出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578A5-04CE-4C5E-9A9E-01CE71DA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38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BB64D-08B4-4E21-88A0-AB598FA2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242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不要求语义等价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F58CF-6318-4C6D-AA10-2EE3967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86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DB2A9-5F86-49E6-93C0-0D3412F5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719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不恢复隐藏推理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1D0FD-24E9-4952-B304-4771EFA2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两个文件 → 综合摘要    任务描述 → 执行计划</a:t>
            </a:r>
          </a:p>
        </p:txBody>
      </p:sp>
    </p:spTree>
    <p:extLst>
      <p:ext uri="{BB962C8B-B14F-4D97-AF65-F5344CB8AC3E}">
        <p14:creationId xmlns:p14="http://schemas.microsoft.com/office/powerpoint/2010/main" val="106128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C9D26-9FA9-4556-887D-1CFC8112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1D3AC-259A-44E8-AE90-A24073F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8C581-1C8D-4085-9871-929E988D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28281-D831-4D6C-9185-B5DC5202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C71EE-783B-4CD9-AE62-D452D93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7D080-6701-4043-9B60-306FC94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D1B2A-4769-4E4E-AF77-C63409C5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76F0B-EF7A-40DB-B064-065F00C5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73E9F-555A-4F32-A3B0-BFEA5ADD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8D02D-44CB-427F-AB60-4F534C4A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8/16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BFFA1-C46C-43D6-B923-878F526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419100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9525">
            <a:solidFill>
              <a:srgbClr val="CDBD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D7F9D-70CB-4243-A877-CFA8BEAE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428750"/>
            <a:ext cx="38481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UPDATE(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actor,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resource,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old_version,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new_version,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  commit_id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CB082-B804-4DD2-8979-CB0FCE5F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95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965DC-EC18-486B-842A-254FD67A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811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资源具有稳定身份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79A9D-C640-4C88-B234-E0A3817C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0DC0B-35FD-4775-9D82-AD1ADB42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288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更新前后版本不同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D2B7C-B058-4BCA-94A5-4110DA3A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90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3FC77-AB50-4196-94CA-F040487B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765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新状态已经生效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220C3-140C-4AB9-B79E-DD11A422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38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C3D11-31AA-4AB8-9330-ED253E13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242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请求写入不等于完成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30DA3-99B1-4972-9A54-9AD4F4AA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86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7413F-1A2F-44A5-BBE8-C974A539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71925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成功声明不等于状态变化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8A676-3A33-489A-B70B-2256E9B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memory v0 → v1    file v2 → v3    permission v0 → v1</a:t>
            </a:r>
          </a:p>
        </p:txBody>
      </p:sp>
    </p:spTree>
    <p:extLst>
      <p:ext uri="{BB962C8B-B14F-4D97-AF65-F5344CB8AC3E}">
        <p14:creationId xmlns:p14="http://schemas.microsoft.com/office/powerpoint/2010/main" val="1356720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81E6C-5F45-4E41-8FB9-7011592F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63CAC-4733-47FF-84E7-A778B230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54AED-CCFB-4C4F-8851-E3852EC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5B281-6080-4F83-A2F5-676D48C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C59BD-A960-4FFD-B8ED-D4743380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18FC1-9337-431F-A468-BC1F6497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依赖与控制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C2DED-D8F6-4581-B261-1E43B7D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3F5A8-1B4E-4EC6-A3E5-033CFEE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E77AE-B2D1-4659-8A12-83F04BB9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A2112-27B3-4C90-8B14-DE4646C0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9/16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54717-9A6C-434D-8551-0B586541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719AB-3F6B-4F82-AC95-CE55BE64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E1BFE-31D6-441D-B25A-145D2F72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data_dep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7D3DD-8676-4416-956F-40481DD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022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输出使用某个输入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2A78A-A33D-426F-BC30-60B1DD94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85875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06A95-7A39-40C3-BF42-12010FD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85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2FD43-33FE-47D8-AED1-6ACF1126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9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control_dep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3EE66-0602-404F-B276-79A4049A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022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输入影响操作是否发生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ED58C-D7B8-409D-973A-CD2964EC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D0BB1-A584-4C2C-BBE9-B23371A0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63D12-1AFC-438B-9282-7ACF657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read_from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9F06B-669F-4CE4-9EEB-F5FC20FE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读取指定资源版本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3BDC6-C47E-45B0-B6F1-9668291A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D1670-9E54-423A-874B-CD6A9814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3A8A2-FC92-4128-A6AB-ABC7AD94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908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happens_before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455AF-7F54-43F9-9302-2E1369B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可观察的先后顺序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DB1C0-F834-47FB-BF96-5B6AB153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9429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E9BB"/>
          </a:solidFill>
          <a:ln xmlns:a="http://schemas.openxmlformats.org/drawingml/2006/main" w="9525">
            <a:solidFill>
              <a:srgbClr val="E5AE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C40CC3-EC66-4D8D-83F3-CF0425B1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52950"/>
            <a:ext cx="866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时间相邻不能证明数据依赖</a:t>
            </a:r>
          </a:p>
          <a:p xmlns:a="http://schemas.openxmlformats.org/drawingml/2006/main">
            <a:pPr algn="ctr">
              <a:defRPr sz="18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实际控制状态变化才记录为 UPDATE</a:t>
            </a:r>
          </a:p>
        </p:txBody>
      </p:sp>
    </p:spTree>
    <p:extLst>
      <p:ext uri="{BB962C8B-B14F-4D97-AF65-F5344CB8AC3E}">
        <p14:creationId xmlns:p14="http://schemas.microsoft.com/office/powerpoint/2010/main" val="11164145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F4A5E1-4813-4F0E-BA9B-A90AA6A3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7D497-E908-489A-BEAC-558CDF7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12EA-E01E-4ADF-8C5B-FD4490C6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857F4-0495-432F-A3CA-070240C4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09D0B-AA23-4704-8518-8A167B2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F86BD-3ED7-4AB9-9422-CA0C0407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跨会话传播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5314B-D6FD-4E14-B366-5ED740C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4B07D-465C-4D1F-97FB-71BFB7D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1CC68-E2B6-4808-BA48-366CAA53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9C44B-8D55-4132-8E13-0963732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10/16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EF81F-749B-470B-A77B-57481F5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90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Session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4E4BD-2C68-48E4-BAFA-565CC15F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90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Session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24A36-43EC-4F92-897E-96CEAE50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CC4F6-8A20-40D3-BE43-E45613D8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85950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用户消息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7824D-35C7-42C1-9FE0-95A6028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854D0-386A-4EBF-A253-940BC7E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Agent上下文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24248-8C91-431C-8FD3-9EE21B6D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90875"/>
            <a:ext cx="2095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7E9BB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7BD49-7738-467B-B217-493ECABC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67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memory v0 → v1</a:t>
            </a:r>
          </a:p>
        </p:txBody>
      </p:sp>
      <p:cxnSp>
        <p:nvCxnSpPr>
          <p:cNvPr id="61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714625" y="21193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286125" y="2428875"/>
            <a:ext cx="10477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261E8-49A2-4794-9786-182F26B2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62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rPr>
              <a:t>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321B7-175F-4102-B69D-E38DDA9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38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rPr>
              <a:t>DERIVE + 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B9A11-259F-46EB-A7BD-7C228EDE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9750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85563-5AB5-4319-8D3E-6A2A6B01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85950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memory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568BB-50AB-43A7-90D1-5C2E7B9A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09750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9DA8D-3A7F-4035-9946-299DB70F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85950"/>
            <a:ext cx="152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Agent上下文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D74D14-9F3E-4BB8-A396-F99E5D3D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2095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0E25C-E5B4-4436-809C-1286A35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67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回答或工具决策</a:t>
            </a:r>
          </a:p>
        </p:txBody>
      </p:sp>
      <p:cxnSp>
        <p:nvCxnSpPr>
          <p:cNvPr id="71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10625" y="21193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9382125" y="2428875"/>
            <a:ext cx="10477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405822-4EFE-46EB-8089-7AC41F0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62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rPr>
              <a:t>TRANSFER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A855B-04F2-4CDA-847A-0777D26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3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706A73"/>
                </a:solidFill>
                <a:latin typeface="DejaVu Sans"/>
                <a:ea typeface="DejaVu Sans"/>
                <a:cs typeface="DejaVu Sans"/>
              </a:rPr>
              <a:t>DERIVE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E65A24-58B0-437E-BEF8-F320B4DB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433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AE2B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2257E-A732-4761-8F9E-20E829E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174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D174F"/>
                </a:solidFill>
                <a:latin typeface="DejaVu Sans"/>
                <a:ea typeface="DejaVu Sans"/>
                <a:cs typeface="DejaVu Sans"/>
              </a:rPr>
              <a:t>read_from + session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19A672-208B-4CEE-B316-DFBE0254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24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481229-E4E0-4AA9-9CB7-602A56AD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10125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实际会话身份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8232BD-BC5D-4FE2-A992-A72C9B9B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67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9133B-78CC-464D-9034-8ADB54E4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153025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持久资源范围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AD701-7BDE-4A93-9887-FB7C26B0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0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68724E-F195-43F6-9A2C-1139A357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495925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写入与读取版本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E3D6DA-EA46-4F9C-BD75-28C6052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53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8A2FA0-058E-4AAB-97FE-24CE2060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838825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读取内容的后续使用</a:t>
            </a:r>
          </a:p>
        </p:txBody>
      </p:sp>
    </p:spTree>
    <p:extLst>
      <p:ext uri="{BB962C8B-B14F-4D97-AF65-F5344CB8AC3E}">
        <p14:creationId xmlns:p14="http://schemas.microsoft.com/office/powerpoint/2010/main" val="17040294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D5803-8312-49CB-B19E-8658B910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79F01-D89F-41EB-9B49-DA10FEB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D4738-970A-4321-9A26-0881593D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ADA38-9528-4541-BD8E-6C448E1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4733B-3E1D-4107-B012-E8901F3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1D448-AD79-4FA2-8BA0-DA214B7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14758-04A8-4A59-B340-0FE2A1F4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26E28-478E-4A01-A339-C08EE56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62236-5515-48EB-97AE-61471339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6F121-C199-49DF-8238-9065271A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11/16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90601-4A1E-48EF-95A5-AD418872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762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0FA01-4F40-483B-94EA-BCA2E63E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88578-B11C-4CF9-B828-7D26341F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04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能够表达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A78A6-BC70-4C09-8DCD-38A79D05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954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已记录的交付、输出、资源变化、依赖与版本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3311B-BAB7-4E3C-A480-DF657462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762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557E4-8A38-43DD-8FAE-FA817A30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79743-30E0-47A4-91BE-AD71F793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04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能够比较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3F271-7DBF-4B9C-9D8A-1A18D518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954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不同操作接口的事实保留与重复计数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36038-D4AC-49E8-92E5-7597DDC5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762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2BB99-7726-4BB5-924A-06A76FC1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FF381A-4776-4865-A70E-90751AA3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需要固定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D02DC-B7DA-48FE-8E96-3C91281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909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观察范围、对象粒度、资源语义和证据来源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052A0-46CE-48D9-A74A-B9E3884C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762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7AC16-78D2-4E87-81E1-AF621918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8D8A2-3BD5-4DB6-904E-3A1C3C0F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不能声称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2EDF2-3526-4894-80E9-AEA04A6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909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唯一分解、普适最小基和自动真实重放</a:t>
            </a:r>
          </a:p>
        </p:txBody>
      </p:sp>
    </p:spTree>
    <p:extLst>
      <p:ext uri="{BB962C8B-B14F-4D97-AF65-F5344CB8AC3E}">
        <p14:creationId xmlns:p14="http://schemas.microsoft.com/office/powerpoint/2010/main" val="2019077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A5373-4485-4969-8B39-3F903625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5B7C8-94C6-477F-B393-5CBF936F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DAD9D-0E6B-457F-84DF-1BADA617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EB282-4C20-4406-8982-AD1F7838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9626B-3796-485D-BC09-32FF67D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20ADF-0A05-4039-B990-477E60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代码结构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8D680-827C-4702-99A5-1354373F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967AE-9E5D-4074-8668-F1E49C4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7D5CE-2BBB-4C73-9994-1E66383C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5F244-447F-4BE4-B8E5-90C5ADDC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12/16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307AE-D6A2-4999-9438-095CB969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191250" cy="4286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9FC"/>
          </a:solidFill>
          <a:ln xmlns:a="http://schemas.openxmlformats.org/drawingml/2006/main" w="9525">
            <a:solidFill>
              <a:srgbClr val="CDBD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6EB02-B7C9-484F-A869-E6F2E9B6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58483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src/stac_attack_lab/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├── flow/            v3数据模型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├── interactions/    轨迹与信息流图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├── extraction/      图切片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├── verification/    依赖验证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├── execution/       分析流程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├── environments/    SafeClaw环境</a:t>
            </a:r>
          </a:p>
          <a:p xmlns:a="http://schemas.openxmlformats.org/drawingml/2006/main">
            <a:pPr algn="l">
              <a:def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4D174F"/>
                </a:solidFill>
                <a:latin typeface="DejaVu Sans Mono"/>
                <a:ea typeface="DejaVu Sans Mono"/>
                <a:cs typeface="DejaVu Sans Mono"/>
              </a:rPr>
              <a:t>└── reporting/       结果报告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D7F95-4DBB-484B-B54F-0F229A3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3810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62CD9-79D4-4B1E-95D9-E50CE58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6FEA3-32D5-44A9-ACED-A2DD285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00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VS Code展示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4CC7B-4941-40C2-9253-D3FD4987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90725"/>
            <a:ext cx="3429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flow/models.py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interactions/flow_v3.py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verification/flow_v3.py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execution/flow_reanalysis.py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77A7D-07DA-42A7-9A64-8DC6E975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PPT讲结构，IDE讲实现</a:t>
            </a:r>
          </a:p>
        </p:txBody>
      </p:sp>
    </p:spTree>
    <p:extLst>
      <p:ext uri="{BB962C8B-B14F-4D97-AF65-F5344CB8AC3E}">
        <p14:creationId xmlns:p14="http://schemas.microsoft.com/office/powerpoint/2010/main" val="453291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3D45E-E47E-46A4-AAEE-727EE2AD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A6901-7723-4DE1-872D-7AED7425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95382-2096-4AF2-A407-AB27FAA7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99023-85F7-4C6D-A2FC-AA713341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D2DA-450D-433B-8946-D4BC3087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038DA-76A4-4963-8A57-9146C7A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41D58-E19B-4AA0-A54A-D2A1D23F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D4B0C-9C88-48FE-91F0-32E4D4F5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B5C72-7099-41E2-B421-BC14AD80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5478F-3F4A-49D3-8E10-7DF4E6E5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13/16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1F3F0-F566-445C-A2A5-694B3D15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1524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97C9F-E322-42CF-A7A2-0208D08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193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交互事件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E29B8-C8FB-4D24-B115-F4DDD15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143125"/>
            <a:ext cx="1524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15808-CAB6-4B8D-988E-136A203C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193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规范化轨迹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3C244-0C01-4822-9CEA-6ADC7C9B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43125"/>
            <a:ext cx="1524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7E9BB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8BE77-F819-4225-BC23-632F0870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193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Effect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D76EB-9171-45CA-B15E-FA86194A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43125"/>
            <a:ext cx="1524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7F25A-9F7C-4558-B04A-EFA2C76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193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依赖验证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27D2E-45CD-43E9-AD1A-BC36EDB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43125"/>
            <a:ext cx="1524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B51C4-B53E-4E47-9E26-5EA60F89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193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图切片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E9C2B-EECC-48B2-AE2F-444B2EA5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43125"/>
            <a:ext cx="1524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19050">
            <a:solidFill>
              <a:srgbClr val="6F24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043DC-1217-4A54-B9EB-E43750F2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193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分析结果</a:t>
            </a:r>
          </a:p>
        </p:txBody>
      </p: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952625" y="25146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76675" y="25146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00725" y="25146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724775" y="25146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648825" y="25146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E2B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CD384-3246-4D5F-9AFD-E7961F5C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Projector提出claim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8D48CF-F9CA-47AA-905A-04D4D1C0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Verifier独立裁决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53317-2B81-4F82-A288-E360FE98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62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06A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706A73"/>
                </a:solidFill>
                <a:latin typeface="Noto Sans CJK SC"/>
                <a:ea typeface="Noto Sans CJK SC"/>
                <a:cs typeface="Noto Sans CJK SC"/>
              </a:rPr>
              <a:t>未观察内容保留为 unknown</a:t>
            </a:r>
          </a:p>
        </p:txBody>
      </p:sp>
    </p:spTree>
    <p:extLst>
      <p:ext uri="{BB962C8B-B14F-4D97-AF65-F5344CB8AC3E}">
        <p14:creationId xmlns:p14="http://schemas.microsoft.com/office/powerpoint/2010/main" val="13927673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ED26E-C124-4B2F-A223-EF937BEE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9C17F-1396-43E9-98CA-2896758F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40216-D71D-4B86-B5E9-AD595C5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5FB36-0BEB-40A3-BB07-536EA154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875D1-6A88-424E-9B19-CD3DAFCE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60536-AF67-4502-9E2E-827392F7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当前进展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C2EA-CAB2-48E8-9BF3-10576F0C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BB07F-9574-427B-B99F-6F0E43B4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99199-1FE4-4591-B60B-2DEB3F01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54936-B204-41D9-9F50-D60F6D9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14/16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9B688-5BEA-4C6B-9397-88D3209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5048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95534-6AFB-4F53-9EDE-8153DDC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630B6-3BFF-49CE-80D2-30292405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620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目前已经完成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22E21-A958-4E10-8076-8D8A069E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52600"/>
            <a:ext cx="4667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Primitive v3数据结构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Effect Graph与多效果投影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依赖验证与图切片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跨会话版本关系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正常交互轨迹分析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SafeClaw环境适配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C2A04-E2B7-45B9-97EC-46A9D879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38250"/>
            <a:ext cx="5048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EE434-0A1F-4811-A232-ED477CF8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382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D2CB7-C5A3-4CD6-A99B-9EC68983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3620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目前仍在进行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DA6B9-492F-4BED-8AD5-99E4EA90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752600"/>
            <a:ext cx="4667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正常传播样本库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更多交互场景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Planner接入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正式攻击实验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对照与消融实验</a:t>
            </a:r>
          </a:p>
        </p:txBody>
      </p:sp>
    </p:spTree>
    <p:extLst>
      <p:ext uri="{BB962C8B-B14F-4D97-AF65-F5344CB8AC3E}">
        <p14:creationId xmlns:p14="http://schemas.microsoft.com/office/powerpoint/2010/main" val="11857165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6B30B-FD7B-4EBC-954D-0D7D9292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21D3-97C7-4A74-AA2F-45E1B4F3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8B48B-A639-43AA-99A1-DD9980B5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57670-6B3F-4E31-9ED5-21000875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63FFA-649D-4907-A573-91258D06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E268F-E496-4584-9F14-0179BE84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当前困难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2AFDA-E65D-40B2-A3C1-D9B42265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DF68A-3AA9-4524-9CA7-C5BE9D04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8881C-F974-49DD-A70A-6783185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5990-A615-4743-BF67-53D73826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950CC-C145-4B08-9677-BE4D2750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5095875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B09A6-38FC-409D-92FC-78AECBC1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762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50DB1-9066-421B-9A0B-E05AF456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097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信息流分析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08E89-E77B-44C4-A8B1-93BA8088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00225"/>
            <a:ext cx="4714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图中的关系是否准确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未观察步骤如何处理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语义依赖如何验证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不同轨迹如何统一表示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AF391-9B70-461A-A437-8B5CA850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85875"/>
            <a:ext cx="5095875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359EB-4AA1-466D-9FC9-B8E52AEC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85875"/>
            <a:ext cx="762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9D416-2ABE-4AC7-9835-C1C2FA3B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97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攻击过程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07F48-A544-47AD-89D0-D3750411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0225"/>
            <a:ext cx="4714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信息流图如何帮助攻击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Planner应该关注哪些信息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Prompt需要怎样组织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Long-horizon状态如何处理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攻击提升如何解释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4CFE3-ABD3-414F-9DDB-0EF6B4B4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EAF3"/>
          </a:solidFill>
          <a:ln xmlns:a="http://schemas.openxmlformats.org/drawingml/2006/main" w="9525">
            <a:solidFill>
              <a:srgbClr val="CDBD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B5EAE-ABA9-43DA-8205-7ABC1532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图到攻击的转换仍需明确</a:t>
            </a:r>
          </a:p>
        </p:txBody>
      </p:sp>
    </p:spTree>
    <p:extLst>
      <p:ext uri="{BB962C8B-B14F-4D97-AF65-F5344CB8AC3E}">
        <p14:creationId xmlns:p14="http://schemas.microsoft.com/office/powerpoint/2010/main" val="7046183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9DDC9-ED2C-4F52-8EB5-5A09C126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7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81E9A-EAF7-4C26-BBC5-C8357B93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Primitive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FB8BA-4327-4392-8FA9-DA751A4A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CCADF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EADFE-8FB7-4570-ACEF-CCA4F177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B969A-E882-4491-83A1-B66B6A40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EF831-0BAE-452C-971A-5088FECA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论文启发与未来工作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C89DE-2CA5-4B90-9C0C-A2A21E96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1950"/>
            <a:ext cx="66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88E2D-EC15-43F8-B7A3-FA50CDFF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37D59-399D-40A9-B080-7591C051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STAC Compositional Attack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FFEAC-46FB-47E9-A459-523BC840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81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16/16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F28E-E25A-4AA6-BFDE-6081BDCE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19112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B2254-6816-475C-9423-88FEFD00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76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4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DB296-ED53-4F80-B775-70D91B4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1445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6F2472"/>
                </a:solidFill>
                <a:latin typeface="Noto Sans CJK SC"/>
                <a:ea typeface="Noto Sans CJK SC"/>
                <a:cs typeface="Noto Sans CJK SC"/>
              </a:rPr>
              <a:t>论文启发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5A1E7-1882-4C4C-A92F-4453D396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04975"/>
            <a:ext cx="48101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系统整理Agent设计组件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总结攻击维度和攻击向量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可能帮助组织攻击Prompt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可能帮助比较不同攻击方式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具体方法仍需讨论和实验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19FB0-3EFA-40E1-9395-760A3E6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90625"/>
            <a:ext cx="519112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2F5"/>
          </a:solidFill>
          <a:ln xmlns:a="http://schemas.openxmlformats.org/drawingml/2006/main" w="9525">
            <a:solidFill>
              <a:srgbClr val="D9D2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C5ECB-7947-4442-AADD-C5ED747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90625"/>
            <a:ext cx="76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29D21-0789-42D7-8B23-C6E44BE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31445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5AE2B"/>
                </a:solidFill>
                <a:latin typeface="Noto Sans CJK SC"/>
                <a:ea typeface="Noto Sans CJK SC"/>
                <a:cs typeface="Noto Sans CJK SC"/>
              </a:rPr>
              <a:t>未来工作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37E62-D64C-4510-8323-2CBCC22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04975"/>
            <a:ext cx="48101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完善正常传播样本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检查信息流图准确性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明确信息流图在攻击中的作用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设计合理的Planner输入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比较有无信息流图的结果</a:t>
            </a:r>
          </a:p>
          <a:p xmlns:a="http://schemas.openxmlformats.org/drawingml/2006/main">
            <a:pPr algn="l">
              <a:def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4212A"/>
                </a:solidFill>
                <a:latin typeface="Noto Sans CJK SC"/>
                <a:ea typeface="Noto Sans CJK SC"/>
                <a:cs typeface="Noto Sans CJK SC"/>
              </a:rPr>
              <a:t>分析Long-horizon攻击过程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2BDE5-73E4-4E3F-902C-0FA58A0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E9BB"/>
          </a:solidFill>
          <a:ln xmlns:a="http://schemas.openxmlformats.org/drawingml/2006/main" w="9525">
            <a:solidFill>
              <a:srgbClr val="E5AE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46A58-FC97-4295-8C7D-AD661BB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578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4D174F"/>
                </a:solidFill>
                <a:latin typeface="Noto Sans CJK SC"/>
                <a:ea typeface="Noto Sans CJK SC"/>
                <a:cs typeface="Noto Sans CJK SC"/>
              </a:rPr>
              <a:t>研究重点逐步转向信息流的攻击利用</a:t>
            </a:r>
          </a:p>
        </p:txBody>
      </p:sp>
    </p:spTree>
    <p:extLst>
      <p:ext uri="{BB962C8B-B14F-4D97-AF65-F5344CB8AC3E}">
        <p14:creationId xmlns:p14="http://schemas.microsoft.com/office/powerpoint/2010/main" val="1108782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2026-09-21T03:41:44.9030000Z</dcterms:created>
  <dcterms:modified xsi:type="dcterms:W3CDTF">2026-09-21T03:41:44.9030000Z</dcterms:modified>
</coreProperties>
</file>